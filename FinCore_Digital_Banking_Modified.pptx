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9" r:id="rId12"/>
    <p:sldId id="27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90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1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7472" y="292608"/>
            <a:ext cx="5532120" cy="59893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440000"/>
            <a:ext cx="2926080" cy="40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>
                <a:solidFill>
                  <a:srgbClr val="082F5D"/>
                </a:solidFill>
                <a:latin typeface="Aptos"/>
              </a:rPr>
              <a:t>FinCoreBank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0000"/>
            <a:ext cx="3200000" cy="24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50" b="0">
                <a:solidFill>
                  <a:srgbClr val="082F5D"/>
                </a:solidFill>
                <a:latin typeface="Aptos"/>
              </a:rPr>
              <a:t>Smart Banking for a Better Tomorrow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470000"/>
            <a:ext cx="4389120" cy="64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600" b="1">
                <a:solidFill>
                  <a:srgbClr val="082F5D"/>
                </a:solidFill>
                <a:latin typeface="Aptos"/>
              </a:rPr>
              <a:t>Fin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00000"/>
            <a:ext cx="5150000" cy="95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>
                <a:solidFill>
                  <a:srgbClr val="139197"/>
                </a:solidFill>
                <a:latin typeface="Aptos"/>
              </a:rPr>
              <a:t>Secure Digital Banking Platform with
Transaction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0000"/>
            <a:ext cx="4700000" cy="76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50" b="0">
                <a:solidFill>
                  <a:srgbClr val="1C2B39"/>
                </a:solidFill>
                <a:latin typeface="Aptos"/>
              </a:rPr>
              <a:t>Complete onboarding, transaction, and loan management for modern banking operations.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0000" y="4150000"/>
            <a:ext cx="4650000" cy="1060000"/>
          </a:xfrm>
          <a:prstGeom prst="roundRect">
            <a:avLst>
              <a:gd name="adj" fmla="val 7000"/>
            </a:avLst>
          </a:prstGeom>
          <a:solidFill>
            <a:srgbClr val="EAF2FB"/>
          </a:solidFill>
          <a:ln w="9525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0000" y="4250000"/>
            <a:ext cx="2600000" cy="26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1">
                <a:solidFill>
                  <a:srgbClr val="139197"/>
                </a:solidFill>
                <a:latin typeface="Aptos"/>
              </a:rPr>
              <a:t>UNDER THE GUIDANCE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4570000"/>
            <a:ext cx="4100000" cy="56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082F5D"/>
                </a:solidFill>
                <a:latin typeface="Aptos"/>
              </a:rPr>
              <a:t>Surmaya Biswas</a:t>
            </a:r>
          </a:p>
          <a:p>
            <a:pPr algn="l"/>
            <a:r>
              <a:rPr sz="1200" b="0">
                <a:solidFill>
                  <a:srgbClr val="082F5D"/>
                </a:solidFill>
                <a:latin typeface="Aptos"/>
              </a:rPr>
              <a:t>Project Mentor, Infosys Springboard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50000"/>
            <a:ext cx="4600000" cy="33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50" b="1">
                <a:solidFill>
                  <a:srgbClr val="082F5D"/>
                </a:solidFill>
                <a:latin typeface="Aptos"/>
              </a:rPr>
              <a:t>JAVA     •     SPRING     •     REACT     •     MYSQL</a:t>
            </a:r>
          </a:p>
        </p:txBody>
      </p:sp>
      <p:sp>
        <p:nvSpPr>
          <p:cNvPr id="30" name="Rounded Rectangle Team"/>
          <p:cNvSpPr/>
          <p:nvPr/>
        </p:nvSpPr>
        <p:spPr>
          <a:xfrm>
            <a:off x="6500000" y="2050000"/>
            <a:ext cx="5000000" cy="30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391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Team Header"/>
          <p:cNvSpPr txBox="1"/>
          <p:nvPr/>
        </p:nvSpPr>
        <p:spPr>
          <a:xfrm>
            <a:off x="6740000" y="2230000"/>
            <a:ext cx="4560000" cy="34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082F5D"/>
                </a:solidFill>
                <a:latin typeface="Aptos"/>
              </a:rPr>
              <a:t>TEAM MEMBERS</a:t>
            </a:r>
          </a:p>
        </p:txBody>
      </p:sp>
      <p:sp>
        <p:nvSpPr>
          <p:cNvPr id="33" name="TextBox Team Names"/>
          <p:cNvSpPr txBox="1"/>
          <p:nvPr/>
        </p:nvSpPr>
        <p:spPr>
          <a:xfrm>
            <a:off x="6740000" y="2680000"/>
            <a:ext cx="4560000" cy="225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2B39"/>
                </a:solidFill>
                <a:latin typeface="Aptos"/>
              </a:rPr>
              <a:t>NagarJuna Magam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2B39"/>
                </a:solidFill>
                <a:latin typeface="Aptos"/>
              </a:rPr>
              <a:t>Arfa Saniya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2B39"/>
                </a:solidFill>
                <a:latin typeface="Aptos"/>
              </a:rPr>
              <a:t>Balkishan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2B39"/>
                </a:solidFill>
                <a:latin typeface="Aptos"/>
              </a:rPr>
              <a:t>Jayanth</a:t>
            </a:r>
          </a:p>
          <a:p>
            <a:pPr algn="l"/>
            <a:r>
              <a:rPr sz="1600" b="1">
                <a:solidFill>
                  <a:srgbClr val="1C2B39"/>
                </a:solidFill>
                <a:latin typeface="Aptos"/>
              </a:rPr>
              <a:t>Sulthana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6565392"/>
            <a:ext cx="3840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700" b="1">
                <a:solidFill>
                  <a:srgbClr val="082F5D"/>
                </a:solidFill>
                <a:latin typeface="Aptos"/>
              </a:rPr>
              <a:t>FIN CORE  •  DIGITAL BANKING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547104"/>
            <a:ext cx="3657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750" b="1">
                <a:solidFill>
                  <a:srgbClr val="082F5D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2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7472" y="228600"/>
            <a:ext cx="68580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6400800" cy="3931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>
                <a:solidFill>
                  <a:srgbClr val="082F5D"/>
                </a:solidFill>
                <a:latin typeface="Aptos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62179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>
                <a:solidFill>
                  <a:srgbClr val="082F5D"/>
                </a:solidFill>
                <a:latin typeface="Aptos"/>
              </a:rPr>
              <a:t>Presentation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444752"/>
            <a:ext cx="5486400" cy="4572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096512" y="1499616"/>
            <a:ext cx="347472" cy="347472"/>
          </a:xfrm>
          <a:prstGeom prst="ellipse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96512" y="1563624"/>
            <a:ext cx="347472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1536192"/>
            <a:ext cx="45720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082F5D"/>
                </a:solidFill>
                <a:latin typeface="Aptos"/>
              </a:rPr>
              <a:t>Problem &amp; Proposed Solution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066544"/>
            <a:ext cx="5486400" cy="4572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096512" y="2121408"/>
            <a:ext cx="347472" cy="347472"/>
          </a:xfrm>
          <a:prstGeom prst="ellipse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96512" y="2185416"/>
            <a:ext cx="347472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157984"/>
            <a:ext cx="45720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082F5D"/>
                </a:solidFill>
                <a:latin typeface="Aptos"/>
              </a:rPr>
              <a:t>Core Modules &amp; User Roles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2688336"/>
            <a:ext cx="5486400" cy="4572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096512" y="2743200"/>
            <a:ext cx="347472" cy="347472"/>
          </a:xfrm>
          <a:prstGeom prst="ellipse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96512" y="2807208"/>
            <a:ext cx="347472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779776"/>
            <a:ext cx="45720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082F5D"/>
                </a:solidFill>
                <a:latin typeface="Aptos"/>
              </a:rPr>
              <a:t>Customer and Transaction 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3310128"/>
            <a:ext cx="5486400" cy="4572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096512" y="3364992"/>
            <a:ext cx="347472" cy="347472"/>
          </a:xfrm>
          <a:prstGeom prst="ellipse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96512" y="3429000"/>
            <a:ext cx="347472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401568"/>
            <a:ext cx="45720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082F5D"/>
                </a:solidFill>
                <a:latin typeface="Aptos"/>
              </a:rPr>
              <a:t>Loan Management Flow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3931920"/>
            <a:ext cx="5486400" cy="4572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096512" y="3986784"/>
            <a:ext cx="347472" cy="347472"/>
          </a:xfrm>
          <a:prstGeom prst="ellipse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96512" y="4050792"/>
            <a:ext cx="347472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4023360"/>
            <a:ext cx="45720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082F5D"/>
                </a:solidFill>
                <a:latin typeface="Aptos"/>
              </a:rPr>
              <a:t>Technology Stack &amp; System Architecture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39" y="4553712"/>
            <a:ext cx="5486400" cy="4572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096512" y="4608576"/>
            <a:ext cx="347472" cy="347472"/>
          </a:xfrm>
          <a:prstGeom prst="ellipse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96512" y="4672584"/>
            <a:ext cx="347472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4645152"/>
            <a:ext cx="45720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082F5D"/>
                </a:solidFill>
                <a:latin typeface="Aptos"/>
              </a:rPr>
              <a:t>Implementation Highlights &amp; Validations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77639" y="5175504"/>
            <a:ext cx="5486400" cy="4572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096512" y="5230368"/>
            <a:ext cx="347472" cy="347472"/>
          </a:xfrm>
          <a:prstGeom prst="ellipse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96512" y="5294376"/>
            <a:ext cx="347472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0288" y="5266944"/>
            <a:ext cx="45720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082F5D"/>
                </a:solidFill>
                <a:latin typeface="Aptos"/>
              </a:rPr>
              <a:t>Roadmap, Lessons Learned &amp; Conclusion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6565392"/>
            <a:ext cx="3840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700" b="1">
                <a:solidFill>
                  <a:srgbClr val="082F5D"/>
                </a:solidFill>
                <a:latin typeface="Aptos"/>
              </a:rPr>
              <a:t>FIN CORE  •  DIGITAL BANKING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84280" y="6547104"/>
            <a:ext cx="3657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750" b="1">
                <a:solidFill>
                  <a:srgbClr val="082F5D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3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7472" y="228600"/>
            <a:ext cx="68580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6400800" cy="3931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>
                <a:solidFill>
                  <a:srgbClr val="082F5D"/>
                </a:solidFill>
                <a:latin typeface="Aptos"/>
              </a:rPr>
              <a:t>PROBLEM IDENTIFICATION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62179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50" b="0">
                <a:solidFill>
                  <a:srgbClr val="082F5D"/>
                </a:solidFill>
                <a:latin typeface="Aptos"/>
              </a:rPr>
              <a:t>The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63040"/>
            <a:ext cx="5623560" cy="105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463040"/>
            <a:ext cx="64008" cy="1050000"/>
          </a:xfrm>
          <a:prstGeom prst="rect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572768"/>
            <a:ext cx="53309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50" b="1">
                <a:solidFill>
                  <a:srgbClr val="1569B4"/>
                </a:solidFill>
                <a:latin typeface="Aptos"/>
              </a:rPr>
              <a:t>Manual Onboarding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993392"/>
            <a:ext cx="5330952" cy="46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1C2B39"/>
                </a:solidFill>
                <a:latin typeface="Aptos"/>
              </a:rPr>
              <a:t>Traditional onboarding can involve paperwork and repeated manual verification.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677632"/>
            <a:ext cx="5623560" cy="105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2677632"/>
            <a:ext cx="64008" cy="1050000"/>
          </a:xfrm>
          <a:prstGeom prst="rect">
            <a:avLst/>
          </a:prstGeom>
          <a:solidFill>
            <a:srgbClr val="489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2787360"/>
            <a:ext cx="53309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50" b="1">
                <a:solidFill>
                  <a:srgbClr val="489757"/>
                </a:solidFill>
                <a:latin typeface="Aptos"/>
              </a:rPr>
              <a:t>Balance &amp; Transaction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207984"/>
            <a:ext cx="5330952" cy="46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1C2B39"/>
                </a:solidFill>
                <a:latin typeface="Aptos"/>
              </a:rPr>
              <a:t>Customers need clear validation and immediate balance updates during transactions.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92224"/>
            <a:ext cx="5623560" cy="105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" y="3892224"/>
            <a:ext cx="64008" cy="1050000"/>
          </a:xfrm>
          <a:prstGeom prst="rect">
            <a:avLst/>
          </a:prstGeom>
          <a:solidFill>
            <a:srgbClr val="E88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7" y="4001952"/>
            <a:ext cx="53309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50" b="1">
                <a:solidFill>
                  <a:srgbClr val="E88B19"/>
                </a:solidFill>
                <a:latin typeface="Aptos"/>
              </a:rPr>
              <a:t>Loan 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" y="4422576"/>
            <a:ext cx="5330952" cy="46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1C2B39"/>
                </a:solidFill>
                <a:latin typeface="Aptos"/>
              </a:rPr>
              <a:t>Loan requests require a clear application, approval/rejection and repayment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106816"/>
            <a:ext cx="5623560" cy="105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8368" y="5106816"/>
            <a:ext cx="64008" cy="1050000"/>
          </a:xfrm>
          <a:prstGeom prst="rect">
            <a:avLst/>
          </a:prstGeom>
          <a:solidFill>
            <a:srgbClr val="584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7" y="5216544"/>
            <a:ext cx="53309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50" b="1">
                <a:solidFill>
                  <a:srgbClr val="584896"/>
                </a:solidFill>
                <a:latin typeface="Aptos"/>
              </a:rPr>
              <a:t>Role Separation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5637168"/>
            <a:ext cx="5330952" cy="46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>
                <a:solidFill>
                  <a:srgbClr val="1C2B39"/>
                </a:solidFill>
                <a:latin typeface="Aptos"/>
              </a:rPr>
              <a:t>Admin and Customer actions must remain separated through authentication and authorization.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565392"/>
            <a:ext cx="3840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700" b="1">
                <a:solidFill>
                  <a:srgbClr val="082F5D"/>
                </a:solidFill>
                <a:latin typeface="Aptos"/>
              </a:rPr>
              <a:t>FIN CORE  •  DIGITAL BANKING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6547104"/>
            <a:ext cx="3657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750" b="1">
                <a:solidFill>
                  <a:srgbClr val="082F5D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4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5017" y="0"/>
            <a:ext cx="12857018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7472" y="228600"/>
            <a:ext cx="68580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6400800" cy="3931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>
                <a:solidFill>
                  <a:srgbClr val="082F5D"/>
                </a:solidFill>
                <a:latin typeface="Aptos"/>
              </a:rPr>
              <a:t>WHAT FIN CORE PROVIDES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62179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50" b="0">
                <a:solidFill>
                  <a:srgbClr val="082F5D"/>
                </a:solidFill>
                <a:latin typeface="Aptos"/>
              </a:rPr>
              <a:t>Our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00000"/>
            <a:ext cx="557784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50" b="0">
                <a:solidFill>
                  <a:srgbClr val="1C2B39"/>
                </a:solidFill>
                <a:latin typeface="Aptos"/>
              </a:rPr>
              <a:t>Fin Core replaces manual banking processes with a secure,
role-based digital workflow for onboarding, transactions, and loans.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20000"/>
            <a:ext cx="5623560" cy="98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020000"/>
            <a:ext cx="64008" cy="980000"/>
          </a:xfrm>
          <a:prstGeom prst="rect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2129728"/>
            <a:ext cx="53309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1569B4"/>
                </a:solidFill>
                <a:latin typeface="Aptos"/>
              </a:rPr>
              <a:t>Customer Onboarding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550352"/>
            <a:ext cx="5330952" cy="46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50" b="0">
                <a:solidFill>
                  <a:srgbClr val="1C2B39"/>
                </a:solidFill>
                <a:latin typeface="Aptos"/>
              </a:rPr>
              <a:t>Customer submits a request; admin reviews and approves before account access is enabled.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10000"/>
            <a:ext cx="5623560" cy="98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110000"/>
            <a:ext cx="64008" cy="980000"/>
          </a:xfrm>
          <a:prstGeom prst="rect">
            <a:avLst/>
          </a:prstGeom>
          <a:solidFill>
            <a:srgbClr val="489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3219728"/>
            <a:ext cx="53309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489757"/>
                </a:solidFill>
                <a:latin typeface="Aptos"/>
              </a:rPr>
              <a:t>Transaction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640352"/>
            <a:ext cx="5330952" cy="46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50" b="0">
                <a:solidFill>
                  <a:srgbClr val="1C2B39"/>
                </a:solidFill>
                <a:latin typeface="Aptos"/>
              </a:rPr>
              <a:t>Deposit, withdrawal and transfer operations with balance and transaction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00000"/>
            <a:ext cx="5623560" cy="98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4200000"/>
            <a:ext cx="64008" cy="980000"/>
          </a:xfrm>
          <a:prstGeom prst="rect">
            <a:avLst/>
          </a:prstGeom>
          <a:solidFill>
            <a:srgbClr val="E88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" y="4309728"/>
            <a:ext cx="53309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E88B19"/>
                </a:solidFill>
                <a:latin typeface="Aptos"/>
              </a:rPr>
              <a:t>Loan 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730352"/>
            <a:ext cx="5330952" cy="46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50" b="0">
                <a:solidFill>
                  <a:srgbClr val="1C2B39"/>
                </a:solidFill>
                <a:latin typeface="Aptos"/>
              </a:rPr>
              <a:t>Customer applies for a loan; admin verifies and approves/rejects; repayment is tracked.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90000"/>
            <a:ext cx="5623560" cy="98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5290000"/>
            <a:ext cx="64008" cy="980000"/>
          </a:xfrm>
          <a:prstGeom prst="rect">
            <a:avLst/>
          </a:prstGeom>
          <a:solidFill>
            <a:srgbClr val="584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5399728"/>
            <a:ext cx="53309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584896"/>
                </a:solidFill>
                <a:latin typeface="Aptos"/>
              </a:rPr>
              <a:t>Secure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5820352"/>
            <a:ext cx="5330952" cy="46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50" b="0">
                <a:solidFill>
                  <a:srgbClr val="1C2B39"/>
                </a:solidFill>
                <a:latin typeface="Aptos"/>
              </a:rPr>
              <a:t>Spring Security controls authentication and role-based access for Admin and Customer.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565392"/>
            <a:ext cx="3840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700" b="1">
                <a:solidFill>
                  <a:srgbClr val="082F5D"/>
                </a:solidFill>
                <a:latin typeface="Aptos"/>
              </a:rPr>
              <a:t>FIN CORE  •  DIGITAL BANKING 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84280" y="6547104"/>
            <a:ext cx="3657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750" b="1">
                <a:solidFill>
                  <a:srgbClr val="082F5D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5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7472" y="228600"/>
            <a:ext cx="68580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6400800" cy="3931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>
                <a:solidFill>
                  <a:srgbClr val="082F5D"/>
                </a:solidFill>
                <a:latin typeface="Aptos"/>
              </a:rPr>
              <a:t>MAJOR FUNCTIONAL AREAS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62179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>
                <a:solidFill>
                  <a:srgbClr val="082F5D"/>
                </a:solidFill>
                <a:latin typeface="Aptos"/>
              </a:rPr>
              <a:t>Core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557784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Fin Core is organized into four functional areas that together cover the full banking lifecycle.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703320" cy="140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64008" cy="1400000"/>
          </a:xfrm>
          <a:prstGeom prst="rect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258568"/>
            <a:ext cx="341071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1569B4"/>
                </a:solidFill>
                <a:latin typeface="Aptos"/>
              </a:rPr>
              <a:t>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79192"/>
            <a:ext cx="3410712" cy="70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50" b="0">
                <a:solidFill>
                  <a:srgbClr val="1C2B39"/>
                </a:solidFill>
                <a:latin typeface="Aptos"/>
              </a:rPr>
              <a:t>Registration, login, account access, transactions and loan requests.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2148840"/>
            <a:ext cx="3703320" cy="140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937759" y="2148840"/>
            <a:ext cx="64008" cy="1400000"/>
          </a:xfrm>
          <a:prstGeom prst="rect">
            <a:avLst/>
          </a:prstGeom>
          <a:solidFill>
            <a:srgbClr val="139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0" y="2258568"/>
            <a:ext cx="341071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139197"/>
                </a:solidFill>
                <a:latin typeface="Aptos"/>
              </a:rPr>
              <a:t>Admin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679192"/>
            <a:ext cx="3410712" cy="70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50" b="0">
                <a:solidFill>
                  <a:srgbClr val="1C2B39"/>
                </a:solidFill>
                <a:latin typeface="Aptos"/>
              </a:rPr>
              <a:t>Review requests, approve/reject customers, manage account information and loan processing.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68840"/>
            <a:ext cx="3703320" cy="140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3868840"/>
            <a:ext cx="64008" cy="1400000"/>
          </a:xfrm>
          <a:prstGeom prst="rect">
            <a:avLst/>
          </a:prstGeom>
          <a:solidFill>
            <a:srgbClr val="489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3978568"/>
            <a:ext cx="341071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489757"/>
                </a:solidFill>
                <a:latin typeface="Aptos"/>
              </a:rPr>
              <a:t>Transactions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99192"/>
            <a:ext cx="3410712" cy="70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50" b="0">
                <a:solidFill>
                  <a:srgbClr val="1C2B39"/>
                </a:solidFill>
                <a:latin typeface="Aptos"/>
              </a:rPr>
              <a:t>Deposit, withdrawal, transfer, balance checks and transaction history.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59" y="3868840"/>
            <a:ext cx="3703320" cy="140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937759" y="3868840"/>
            <a:ext cx="64008" cy="1400000"/>
          </a:xfrm>
          <a:prstGeom prst="rect">
            <a:avLst/>
          </a:prstGeom>
          <a:solidFill>
            <a:srgbClr val="E88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0640" y="3978568"/>
            <a:ext cx="341071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E88B19"/>
                </a:solidFill>
                <a:latin typeface="Aptos"/>
              </a:rPr>
              <a:t>Loan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399192"/>
            <a:ext cx="3410712" cy="70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50" b="0">
                <a:solidFill>
                  <a:srgbClr val="1C2B39"/>
                </a:solidFill>
                <a:latin typeface="Aptos"/>
              </a:rPr>
              <a:t>Loan application, approval/rejection, loan account/disbursement and repayment.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565392"/>
            <a:ext cx="3840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700" b="1">
                <a:solidFill>
                  <a:srgbClr val="082F5D"/>
                </a:solidFill>
                <a:latin typeface="Aptos"/>
              </a:rPr>
              <a:t>FIN CORE  •  DIGITAL BANKING 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84280" y="6547104"/>
            <a:ext cx="3657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750" b="1">
                <a:solidFill>
                  <a:srgbClr val="082F5D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6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7472" y="228600"/>
            <a:ext cx="68580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6400800" cy="3931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>
                <a:solidFill>
                  <a:srgbClr val="082F5D"/>
                </a:solidFill>
                <a:latin typeface="Aptos"/>
              </a:rPr>
              <a:t>HOW A CUSTOMER USES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62179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>
                <a:solidFill>
                  <a:srgbClr val="082F5D"/>
                </a:solidFill>
                <a:latin typeface="Aptos"/>
              </a:rPr>
              <a:t>Customer &amp; Transaction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84831" cy="24231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66928" y="1691640"/>
            <a:ext cx="420624" cy="420624"/>
          </a:xfrm>
          <a:prstGeom prst="ellipse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420624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09928"/>
            <a:ext cx="1353311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082F5D"/>
                </a:solidFill>
                <a:latin typeface="Aptos"/>
              </a:rPr>
              <a:t>Customer Login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240280"/>
            <a:ext cx="1792223" cy="169163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Logs in after successful authentication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98064" y="1600200"/>
            <a:ext cx="2084831" cy="24231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907792" y="1691640"/>
            <a:ext cx="420624" cy="420624"/>
          </a:xfrm>
          <a:prstGeom prst="ellipse">
            <a:avLst/>
          </a:prstGeom>
          <a:solidFill>
            <a:srgbClr val="139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07792" y="1755648"/>
            <a:ext cx="420624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9856" y="1709928"/>
            <a:ext cx="1353311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082F5D"/>
                </a:solidFill>
                <a:latin typeface="Aptos"/>
              </a:rPr>
              <a:t>Raise 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4368" y="2240280"/>
            <a:ext cx="1792223" cy="169163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Submits a request for banking access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38928" y="1600200"/>
            <a:ext cx="2084831" cy="24231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248656" y="1691640"/>
            <a:ext cx="420624" cy="420624"/>
          </a:xfrm>
          <a:prstGeom prst="ellipse">
            <a:avLst/>
          </a:prstGeom>
          <a:solidFill>
            <a:srgbClr val="489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48656" y="1755648"/>
            <a:ext cx="420624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1709928"/>
            <a:ext cx="1353311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082F5D"/>
                </a:solidFill>
                <a:latin typeface="Aptos"/>
              </a:rPr>
              <a:t>Admin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2240280"/>
            <a:ext cx="1792223" cy="169163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Admin approves or rejects the request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79792" y="1600200"/>
            <a:ext cx="2084831" cy="24231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589519" y="1691640"/>
            <a:ext cx="420624" cy="420624"/>
          </a:xfrm>
          <a:prstGeom prst="ellipse">
            <a:avLst/>
          </a:prstGeom>
          <a:solidFill>
            <a:srgbClr val="E88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89519" y="1755648"/>
            <a:ext cx="420624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1583" y="1709928"/>
            <a:ext cx="1353311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082F5D"/>
                </a:solidFill>
                <a:latin typeface="Aptos"/>
              </a:rPr>
              <a:t>Account Activated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6096" y="2240280"/>
            <a:ext cx="1792223" cy="169163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Approval enables banking access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0656" y="1600200"/>
            <a:ext cx="2084831" cy="24231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930384" y="1691640"/>
            <a:ext cx="420624" cy="420624"/>
          </a:xfrm>
          <a:prstGeom prst="ellipse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30384" y="1755648"/>
            <a:ext cx="420624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42448" y="1709928"/>
            <a:ext cx="1353311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>
                <a:solidFill>
                  <a:srgbClr val="082F5D"/>
                </a:solidFill>
                <a:latin typeface="Aptos"/>
              </a:rPr>
              <a:t>Transactions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2240280"/>
            <a:ext cx="1792223" cy="169163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Deposit, withdrawal &amp; transfer, fully validated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4590288"/>
            <a:ext cx="10241280" cy="685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43000" y="4754880"/>
            <a:ext cx="9784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450" b="1">
                <a:solidFill>
                  <a:srgbClr val="082F5D"/>
                </a:solidFill>
                <a:latin typeface="Aptos"/>
              </a:rPr>
              <a:t>Every transaction — deposit, withdrawal or transfer — passes account, balance and business-rule validation before it is processed.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" y="6565392"/>
            <a:ext cx="3840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700" b="1">
                <a:solidFill>
                  <a:srgbClr val="082F5D"/>
                </a:solidFill>
                <a:latin typeface="Aptos"/>
              </a:rPr>
              <a:t>FIN CORE  •  DIGITAL BANKING MANAGEMENT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84280" y="6547104"/>
            <a:ext cx="3657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750" b="1">
                <a:solidFill>
                  <a:srgbClr val="082F5D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ic1_slide7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8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7472" y="228600"/>
            <a:ext cx="68580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6400800" cy="3931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100" b="1">
                <a:solidFill>
                  <a:srgbClr val="082F5D"/>
                </a:solidFill>
                <a:latin typeface="Aptos"/>
              </a:rPr>
              <a:t>END-TO-END LOAN BUSINESS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62179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>
                <a:solidFill>
                  <a:srgbClr val="082F5D"/>
                </a:solidFill>
                <a:latin typeface="Aptos"/>
              </a:rPr>
              <a:t>Loan Management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429000" cy="129844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76656" y="1645920"/>
            <a:ext cx="420624" cy="420624"/>
          </a:xfrm>
          <a:prstGeom prst="ellipse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" y="1709928"/>
            <a:ext cx="420624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664207"/>
            <a:ext cx="269748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082F5D"/>
                </a:solidFill>
                <a:latin typeface="Aptos"/>
              </a:rPr>
              <a:t>Login &amp; Browse Schemes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94560"/>
            <a:ext cx="3136392" cy="5669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View available schemes &amp; interest rates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554480"/>
            <a:ext cx="3429000" cy="129844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471416" y="1645920"/>
            <a:ext cx="420624" cy="420624"/>
          </a:xfrm>
          <a:prstGeom prst="ellipse">
            <a:avLst/>
          </a:prstGeom>
          <a:solidFill>
            <a:srgbClr val="139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71416" y="1709928"/>
            <a:ext cx="420624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664207"/>
            <a:ext cx="269748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082F5D"/>
                </a:solidFill>
                <a:latin typeface="Aptos"/>
              </a:rPr>
              <a:t>Apply for Loan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94560"/>
            <a:ext cx="3136392" cy="5669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Select scheme &amp; submit details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1554480"/>
            <a:ext cx="3429000" cy="129844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66175" y="1645920"/>
            <a:ext cx="420624" cy="420624"/>
          </a:xfrm>
          <a:prstGeom prst="ellipse">
            <a:avLst/>
          </a:prstGeom>
          <a:solidFill>
            <a:srgbClr val="489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66175" y="1709928"/>
            <a:ext cx="420624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664207"/>
            <a:ext cx="269748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082F5D"/>
                </a:solidFill>
                <a:latin typeface="Aptos"/>
              </a:rPr>
              <a:t>Admin Verification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194560"/>
            <a:ext cx="3136392" cy="5669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Eligibility &amp; document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127248"/>
            <a:ext cx="3429000" cy="129844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76656" y="3218688"/>
            <a:ext cx="420624" cy="420624"/>
          </a:xfrm>
          <a:prstGeom prst="ellipse">
            <a:avLst/>
          </a:prstGeom>
          <a:solidFill>
            <a:srgbClr val="E88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" y="3282696"/>
            <a:ext cx="420624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236976"/>
            <a:ext cx="269748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082F5D"/>
                </a:solidFill>
                <a:latin typeface="Aptos"/>
              </a:rPr>
              <a:t>Approve / Reject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3767328"/>
            <a:ext cx="3136392" cy="5669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Decision with reason if rejected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61688" y="3127248"/>
            <a:ext cx="3429000" cy="129844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471416" y="3218688"/>
            <a:ext cx="420624" cy="420624"/>
          </a:xfrm>
          <a:prstGeom prst="ellipse">
            <a:avLst/>
          </a:prstGeom>
          <a:solidFill>
            <a:srgbClr val="E88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71416" y="3282696"/>
            <a:ext cx="420624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3236976"/>
            <a:ext cx="269748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082F5D"/>
                </a:solidFill>
                <a:latin typeface="Aptos"/>
              </a:rPr>
              <a:t>Disbursement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767328"/>
            <a:ext cx="3136392" cy="5669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Loan account created &amp; funds released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56448" y="3127248"/>
            <a:ext cx="3429000" cy="129844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266175" y="3218688"/>
            <a:ext cx="420624" cy="420624"/>
          </a:xfrm>
          <a:prstGeom prst="ellipse">
            <a:avLst/>
          </a:prstGeom>
          <a:solidFill>
            <a:srgbClr val="584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66175" y="3282696"/>
            <a:ext cx="420624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3236976"/>
            <a:ext cx="269748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>
                <a:solidFill>
                  <a:srgbClr val="082F5D"/>
                </a:solidFill>
                <a:latin typeface="Aptos"/>
              </a:rPr>
              <a:t>Repayment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767328"/>
            <a:ext cx="3136392" cy="5669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Tracked automatically until fully paid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4800600"/>
            <a:ext cx="10287000" cy="6400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43000" y="4965192"/>
            <a:ext cx="98298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450" b="1">
                <a:solidFill>
                  <a:srgbClr val="082F5D"/>
                </a:solidFill>
                <a:latin typeface="Aptos"/>
              </a:rPr>
              <a:t>Every loan moves through verification and approval before disbursement, with repayment tracked automatically until fully paid.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6565392"/>
            <a:ext cx="3840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700" b="1">
                <a:solidFill>
                  <a:srgbClr val="082F5D"/>
                </a:solidFill>
                <a:latin typeface="Aptos"/>
              </a:rPr>
              <a:t>FIN CORE  •  DIGITAL BANKING MANAGEMENT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547104"/>
            <a:ext cx="3657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750" b="1">
                <a:solidFill>
                  <a:srgbClr val="082F5D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1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4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7472" y="228600"/>
            <a:ext cx="68580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6400800" cy="3931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>
                <a:solidFill>
                  <a:srgbClr val="082F5D"/>
                </a:solidFill>
                <a:latin typeface="Aptos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6217920" cy="4524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1300" b="0" dirty="0">
                <a:solidFill>
                  <a:srgbClr val="082F5D"/>
                </a:solidFill>
                <a:latin typeface="Aptos"/>
              </a:rPr>
              <a:t>High Level Architecture</a:t>
            </a:r>
            <a:r>
              <a:rPr lang="en-US" sz="1300" b="0" dirty="0">
                <a:solidFill>
                  <a:srgbClr val="082F5D"/>
                </a:solidFill>
                <a:latin typeface="Aptos"/>
              </a:rPr>
              <a:t> &amp; </a:t>
            </a:r>
            <a:r>
              <a:rPr lang="en-US" sz="1400" dirty="0">
                <a:solidFill>
                  <a:srgbClr val="082F5D"/>
                </a:solidFill>
                <a:latin typeface="Aptos"/>
              </a:rPr>
              <a:t>Technology Stack</a:t>
            </a:r>
          </a:p>
          <a:p>
            <a:pPr algn="l"/>
            <a:endParaRPr sz="1300" b="0" dirty="0">
              <a:solidFill>
                <a:srgbClr val="082F5D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39" y="1463040"/>
            <a:ext cx="3638461" cy="2194559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94488" cy="2194559"/>
          </a:xfrm>
          <a:prstGeom prst="rect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295351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1569B4"/>
                </a:solidFill>
                <a:latin typeface="Aptos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501300" cy="13295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1400" b="0" dirty="0">
                <a:solidFill>
                  <a:srgbClr val="1C2B39"/>
                </a:solidFill>
                <a:latin typeface="Aptos"/>
              </a:rPr>
              <a:t>React.js SPA</a:t>
            </a:r>
            <a:r>
              <a:rPr lang="en-US" sz="1400" dirty="0">
                <a:solidFill>
                  <a:srgbClr val="1C2B39"/>
                </a:solidFill>
                <a:latin typeface="Aptos"/>
              </a:rPr>
              <a:t>
Axios
React Router
Bootstrap / CSS</a:t>
            </a:r>
          </a:p>
          <a:p>
            <a:pPr algn="l"/>
            <a:r>
              <a:rPr sz="1400" b="0" dirty="0">
                <a:solidFill>
                  <a:srgbClr val="1C2B39"/>
                </a:solidFill>
                <a:latin typeface="Aptos"/>
              </a:rPr>
              <a:t>
What customers and admins see and click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463040"/>
            <a:ext cx="3725408" cy="2286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60" y="1463040"/>
            <a:ext cx="64008" cy="2286000"/>
          </a:xfrm>
          <a:prstGeom prst="rect">
            <a:avLst/>
          </a:prstGeom>
          <a:solidFill>
            <a:srgbClr val="139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95444" y="1591373"/>
            <a:ext cx="2953512" cy="28315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lang="en-US" sz="1600" b="1" dirty="0">
                <a:solidFill>
                  <a:srgbClr val="139197"/>
                </a:solidFill>
                <a:latin typeface="Aptos"/>
              </a:rPr>
              <a:t>BACKEND  </a:t>
            </a:r>
            <a:r>
              <a:rPr sz="1500" b="1" dirty="0">
                <a:solidFill>
                  <a:srgbClr val="139197"/>
                </a:solidFill>
                <a:latin typeface="Aptos"/>
              </a:rPr>
              <a:t>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993392"/>
            <a:ext cx="3406812" cy="8987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lang="en-US" sz="1400" dirty="0">
                <a:solidFill>
                  <a:srgbClr val="1C2B39"/>
                </a:solidFill>
                <a:latin typeface="Aptos"/>
              </a:rPr>
              <a:t>Java</a:t>
            </a:r>
          </a:p>
          <a:p>
            <a:r>
              <a:rPr sz="1400" b="0" dirty="0">
                <a:solidFill>
                  <a:srgbClr val="1C2B39"/>
                </a:solidFill>
                <a:latin typeface="Aptos"/>
              </a:rPr>
              <a:t>Spring Boot REST API + Spring Security
Auth &amp; Roles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1463040"/>
            <a:ext cx="3571504" cy="2286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458200" y="1463040"/>
            <a:ext cx="64008" cy="2286000"/>
          </a:xfrm>
          <a:prstGeom prst="rect">
            <a:avLst/>
          </a:prstGeom>
          <a:solidFill>
            <a:srgbClr val="489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41080" y="1572768"/>
            <a:ext cx="295351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489757"/>
                </a:solidFill>
                <a:latin typeface="Aptos"/>
              </a:rPr>
              <a:t>DATA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79" y="1993392"/>
            <a:ext cx="3269871" cy="6832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 dirty="0">
                <a:solidFill>
                  <a:srgbClr val="1C2B39"/>
                </a:solidFill>
                <a:latin typeface="Aptos"/>
              </a:rPr>
              <a:t>MySQL + Spring Data JPA
Accounts, loans and transactions</a:t>
            </a:r>
          </a:p>
        </p:txBody>
      </p:sp>
      <p:sp>
        <p:nvSpPr>
          <p:cNvPr id="21" name="Rounded Rectangle Backdrop"/>
          <p:cNvSpPr/>
          <p:nvPr/>
        </p:nvSpPr>
        <p:spPr>
          <a:xfrm>
            <a:off x="2600000" y="4010000"/>
            <a:ext cx="6980000" cy="48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126512"/>
            <a:ext cx="101498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50" b="1">
                <a:solidFill>
                  <a:srgbClr val="082F5D"/>
                </a:solidFill>
                <a:latin typeface="Aptos"/>
              </a:rPr>
              <a:t>CLIENT  →  API  →  SECURITY / BUSINESS LOGIC  →  DATABASE  →  RESPONSE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617720"/>
            <a:ext cx="25146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4617720"/>
            <a:ext cx="64008" cy="960120"/>
          </a:xfrm>
          <a:prstGeom prst="rect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20"/>
          <p:cNvSpPr txBox="1"/>
          <p:nvPr/>
        </p:nvSpPr>
        <p:spPr>
          <a:xfrm>
            <a:off x="868680" y="4727448"/>
            <a:ext cx="222199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1569B4"/>
                </a:solidFill>
                <a:latin typeface="Aptos"/>
              </a:rPr>
              <a:t>Authentication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48072"/>
            <a:ext cx="2221992" cy="3383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50" b="0">
                <a:solidFill>
                  <a:srgbClr val="1C2B39"/>
                </a:solidFill>
                <a:latin typeface="Aptos"/>
              </a:rPr>
              <a:t>Authorization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617720"/>
            <a:ext cx="25146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337560" y="4617720"/>
            <a:ext cx="64008" cy="960120"/>
          </a:xfrm>
          <a:prstGeom prst="rect">
            <a:avLst/>
          </a:prstGeom>
          <a:solidFill>
            <a:srgbClr val="139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20440" y="4727448"/>
            <a:ext cx="222199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139197"/>
                </a:solidFill>
                <a:latin typeface="Aptos"/>
              </a:rPr>
              <a:t>Role-Based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5148072"/>
            <a:ext cx="2221992" cy="3383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50" b="0">
                <a:solidFill>
                  <a:srgbClr val="1C2B39"/>
                </a:solidFill>
                <a:latin typeface="Aptos"/>
              </a:rPr>
              <a:t>Access Control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617720"/>
            <a:ext cx="25146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989320" y="4617720"/>
            <a:ext cx="64008" cy="960120"/>
          </a:xfrm>
          <a:prstGeom prst="rect">
            <a:avLst/>
          </a:prstGeom>
          <a:solidFill>
            <a:srgbClr val="489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72200" y="4727448"/>
            <a:ext cx="222199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489757"/>
                </a:solidFill>
                <a:latin typeface="Aptos"/>
              </a:rPr>
              <a:t>Business Logic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5148072"/>
            <a:ext cx="2221992" cy="3383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50" b="0">
                <a:solidFill>
                  <a:srgbClr val="1C2B39"/>
                </a:solidFill>
                <a:latin typeface="Aptos"/>
              </a:rPr>
              <a:t>&amp; Validations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41080" y="4617720"/>
            <a:ext cx="25146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641080" y="4617720"/>
            <a:ext cx="64008" cy="960120"/>
          </a:xfrm>
          <a:prstGeom prst="rect">
            <a:avLst/>
          </a:prstGeom>
          <a:solidFill>
            <a:srgbClr val="584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23959" y="4727448"/>
            <a:ext cx="222199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584896"/>
                </a:solidFill>
                <a:latin typeface="Aptos"/>
              </a:rPr>
              <a:t>Data Persistence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59" y="5148072"/>
            <a:ext cx="2221992" cy="3383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50" b="0">
                <a:solidFill>
                  <a:srgbClr val="1C2B39"/>
                </a:solidFill>
                <a:latin typeface="Aptos"/>
              </a:rPr>
              <a:t>&amp;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6565392"/>
            <a:ext cx="3840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700" b="1">
                <a:solidFill>
                  <a:srgbClr val="082F5D"/>
                </a:solidFill>
                <a:latin typeface="Aptos"/>
              </a:rPr>
              <a:t>FIN CORE  •  DIGITAL BANKING MANAGEMENT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547104"/>
            <a:ext cx="3657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750" b="1">
                <a:solidFill>
                  <a:srgbClr val="082F5D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2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7472" y="228600"/>
            <a:ext cx="68580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6400800" cy="3931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>
                <a:solidFill>
                  <a:srgbClr val="082F5D"/>
                </a:solidFill>
                <a:latin typeface="Aptos"/>
              </a:rPr>
              <a:t>IMPLEMENTATION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62179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>
                <a:solidFill>
                  <a:srgbClr val="082F5D"/>
                </a:solidFill>
                <a:latin typeface="Aptos"/>
              </a:rPr>
              <a:t>Key Achievements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53312"/>
            <a:ext cx="5806440" cy="90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353312"/>
            <a:ext cx="64008" cy="900000"/>
          </a:xfrm>
          <a:prstGeom prst="rect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1463040"/>
            <a:ext cx="5513831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50" b="1">
                <a:solidFill>
                  <a:srgbClr val="1569B4"/>
                </a:solidFill>
                <a:latin typeface="Aptos"/>
              </a:rPr>
              <a:t>Role-Based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883664"/>
            <a:ext cx="5513831" cy="38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50" b="0">
                <a:solidFill>
                  <a:srgbClr val="1C2B39"/>
                </a:solidFill>
                <a:latin typeface="Aptos"/>
              </a:rPr>
              <a:t>Spring Security separates Admin &amp; Customer permissions.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68312"/>
            <a:ext cx="5806440" cy="90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368312"/>
            <a:ext cx="64008" cy="900000"/>
          </a:xfrm>
          <a:prstGeom prst="rect">
            <a:avLst/>
          </a:prstGeom>
          <a:solidFill>
            <a:srgbClr val="139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2478040"/>
            <a:ext cx="5513831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50" b="1">
                <a:solidFill>
                  <a:srgbClr val="139197"/>
                </a:solidFill>
                <a:latin typeface="Aptos"/>
              </a:rPr>
              <a:t>Customer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2898664"/>
            <a:ext cx="5513831" cy="38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50" b="0">
                <a:solidFill>
                  <a:srgbClr val="1C2B39"/>
                </a:solidFill>
                <a:latin typeface="Aptos"/>
              </a:rPr>
              <a:t>Request, approval &amp; account access workflow.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83312"/>
            <a:ext cx="5806440" cy="90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383312"/>
            <a:ext cx="64008" cy="900000"/>
          </a:xfrm>
          <a:prstGeom prst="rect">
            <a:avLst/>
          </a:prstGeom>
          <a:solidFill>
            <a:srgbClr val="489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3493040"/>
            <a:ext cx="5513831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50" b="1">
                <a:solidFill>
                  <a:srgbClr val="489757"/>
                </a:solidFill>
                <a:latin typeface="Aptos"/>
              </a:rPr>
              <a:t>Transaction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913664"/>
            <a:ext cx="5513831" cy="38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50" b="0">
                <a:solidFill>
                  <a:srgbClr val="1C2B39"/>
                </a:solidFill>
                <a:latin typeface="Aptos"/>
              </a:rPr>
              <a:t>Deposit, withdrawal, transfer &amp; history with validation.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98312"/>
            <a:ext cx="5806440" cy="90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4398312"/>
            <a:ext cx="64008" cy="900000"/>
          </a:xfrm>
          <a:prstGeom prst="rect">
            <a:avLst/>
          </a:prstGeom>
          <a:solidFill>
            <a:srgbClr val="E88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59" y="4508040"/>
            <a:ext cx="5513831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50" b="1">
                <a:solidFill>
                  <a:srgbClr val="E88B19"/>
                </a:solidFill>
                <a:latin typeface="Aptos"/>
              </a:rPr>
              <a:t>Loan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4928664"/>
            <a:ext cx="5513831" cy="38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50" b="0">
                <a:solidFill>
                  <a:srgbClr val="1C2B39"/>
                </a:solidFill>
                <a:latin typeface="Aptos"/>
              </a:rPr>
              <a:t>Application, admin approval/rejection &amp; repayment.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413312"/>
            <a:ext cx="5806440" cy="90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5413312"/>
            <a:ext cx="64008" cy="900000"/>
          </a:xfrm>
          <a:prstGeom prst="rect">
            <a:avLst/>
          </a:prstGeom>
          <a:solidFill>
            <a:srgbClr val="584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59" y="5523040"/>
            <a:ext cx="5513831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50" b="1">
                <a:solidFill>
                  <a:srgbClr val="584896"/>
                </a:solidFill>
                <a:latin typeface="Aptos"/>
              </a:rPr>
              <a:t>Validation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5943664"/>
            <a:ext cx="5513831" cy="38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50" b="0">
                <a:solidFill>
                  <a:srgbClr val="1C2B39"/>
                </a:solidFill>
                <a:latin typeface="Aptos"/>
              </a:rPr>
              <a:t>Account, balance &amp; business rules checked before processing.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565392"/>
            <a:ext cx="3840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700" b="1">
                <a:solidFill>
                  <a:srgbClr val="082F5D"/>
                </a:solidFill>
                <a:latin typeface="Aptos"/>
              </a:rPr>
              <a:t>FIN CORE  •  DIGITAL BANKING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6547104"/>
            <a:ext cx="3657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750" b="1">
                <a:solidFill>
                  <a:srgbClr val="082F5D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4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7472" y="228600"/>
            <a:ext cx="68580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6400800" cy="3931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>
                <a:solidFill>
                  <a:srgbClr val="082F5D"/>
                </a:solidFill>
                <a:latin typeface="Aptos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62179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>
                <a:solidFill>
                  <a:srgbClr val="082F5D"/>
                </a:solidFill>
                <a:latin typeface="Aptos"/>
              </a:rPr>
              <a:t>Future Enhancements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89888"/>
            <a:ext cx="5852160" cy="105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389888"/>
            <a:ext cx="64008" cy="1050000"/>
          </a:xfrm>
          <a:prstGeom prst="rect">
            <a:avLst/>
          </a:prstGeom>
          <a:solidFill>
            <a:srgbClr val="15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499616"/>
            <a:ext cx="55595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50" b="1">
                <a:solidFill>
                  <a:srgbClr val="1569B4"/>
                </a:solidFill>
                <a:latin typeface="Aptos"/>
              </a:rPr>
              <a:t>Mobile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920240"/>
            <a:ext cx="5559552" cy="38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50" b="0">
                <a:solidFill>
                  <a:srgbClr val="1C2B39"/>
                </a:solidFill>
                <a:latin typeface="Aptos"/>
              </a:rPr>
              <a:t>Native mobile app for Android and 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681723"/>
            <a:ext cx="5852160" cy="105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2681723"/>
            <a:ext cx="64008" cy="1050000"/>
          </a:xfrm>
          <a:prstGeom prst="rect">
            <a:avLst/>
          </a:prstGeom>
          <a:solidFill>
            <a:srgbClr val="139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2791451"/>
            <a:ext cx="55595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50" b="1">
                <a:solidFill>
                  <a:srgbClr val="139197"/>
                </a:solidFill>
                <a:latin typeface="Aptos"/>
              </a:rPr>
              <a:t>UPI &amp; Payment Gateway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212075"/>
            <a:ext cx="5559552" cy="38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50" b="0">
                <a:solidFill>
                  <a:srgbClr val="1C2B39"/>
                </a:solidFill>
                <a:latin typeface="Aptos"/>
              </a:rPr>
              <a:t>Integrate UPI and payment gateway services.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973558"/>
            <a:ext cx="5852160" cy="105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" y="3973558"/>
            <a:ext cx="64008" cy="1050000"/>
          </a:xfrm>
          <a:prstGeom prst="rect">
            <a:avLst/>
          </a:prstGeom>
          <a:solidFill>
            <a:srgbClr val="489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7" y="4083286"/>
            <a:ext cx="55595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50" b="1">
                <a:solidFill>
                  <a:srgbClr val="489757"/>
                </a:solidFill>
                <a:latin typeface="Aptos"/>
              </a:rPr>
              <a:t>Advanced 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" y="4503910"/>
            <a:ext cx="5559552" cy="38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50" b="0">
                <a:solidFill>
                  <a:srgbClr val="1C2B39"/>
                </a:solidFill>
                <a:latin typeface="Aptos"/>
              </a:rPr>
              <a:t>Reports and dashboards for better insights.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265393"/>
            <a:ext cx="5852160" cy="105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8368" y="5265393"/>
            <a:ext cx="64008" cy="1050000"/>
          </a:xfrm>
          <a:prstGeom prst="rect">
            <a:avLst/>
          </a:prstGeom>
          <a:solidFill>
            <a:srgbClr val="584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7" y="5375121"/>
            <a:ext cx="5559552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50" b="1">
                <a:solidFill>
                  <a:srgbClr val="584896"/>
                </a:solidFill>
                <a:latin typeface="Aptos"/>
              </a:rPr>
              <a:t>AI/ML Based Risk Assessment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5795745"/>
            <a:ext cx="5559552" cy="380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50" b="0">
                <a:solidFill>
                  <a:srgbClr val="1C2B39"/>
                </a:solidFill>
                <a:latin typeface="Aptos"/>
              </a:rPr>
              <a:t>Intelligent loan approval and fraud detection.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565392"/>
            <a:ext cx="3840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700" b="1">
                <a:solidFill>
                  <a:srgbClr val="082F5D"/>
                </a:solidFill>
                <a:latin typeface="Aptos"/>
              </a:rPr>
              <a:t>FIN CORE  •  DIGITAL BANKING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6547104"/>
            <a:ext cx="3657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750" b="1">
                <a:solidFill>
                  <a:srgbClr val="082F5D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6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47472" y="228600"/>
            <a:ext cx="685800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6400800" cy="3931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>
                <a:solidFill>
                  <a:srgbClr val="082F5D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62179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>
                <a:solidFill>
                  <a:srgbClr val="082F5D"/>
                </a:solidFill>
                <a:latin typeface="Aptos"/>
              </a:rPr>
              <a:t>Building the Future of Banking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44752"/>
            <a:ext cx="5715000" cy="330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BE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19072"/>
            <a:ext cx="5257800" cy="9601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1C2B39"/>
                </a:solidFill>
                <a:latin typeface="Aptos"/>
              </a:rPr>
              <a:t>Fin Core demonstrates a complete digital banking solution that streamlines onboarding,
transactions and loan management with security, validation and role-based access.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035808"/>
            <a:ext cx="5074920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139197"/>
                </a:solidFill>
                <a:latin typeface="Aptos"/>
              </a:rPr>
              <a:t>Smart Banking for a Better Tomorrow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703320"/>
            <a:ext cx="5074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500" b="1">
                <a:solidFill>
                  <a:srgbClr val="082F5D"/>
                </a:solidFill>
                <a:latin typeface="Aptos"/>
              </a:rPr>
              <a:t>Thank You!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315968"/>
            <a:ext cx="50749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50" b="1">
                <a:solidFill>
                  <a:srgbClr val="1569B4"/>
                </a:solidFill>
                <a:latin typeface="Aptos"/>
              </a:rPr>
              <a:t>Questions &amp; 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565392"/>
            <a:ext cx="3840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700" b="1">
                <a:solidFill>
                  <a:srgbClr val="082F5D"/>
                </a:solidFill>
                <a:latin typeface="Aptos"/>
              </a:rPr>
              <a:t>FIN CORE  •  DIGITAL BANKING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547104"/>
            <a:ext cx="36576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750" b="1">
                <a:solidFill>
                  <a:srgbClr val="082F5D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789</Words>
  <Application>Microsoft Office PowerPoint</Application>
  <PresentationFormat>Widescreen</PresentationFormat>
  <Paragraphs>171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SHASHANK VISHWAKARMA</cp:lastModifiedBy>
  <cp:revision>2</cp:revision>
  <dcterms:created xsi:type="dcterms:W3CDTF">2013-01-27T09:14:16Z</dcterms:created>
  <dcterms:modified xsi:type="dcterms:W3CDTF">2026-09-03T14:10:22Z</dcterms:modified>
  <cp:category/>
</cp:coreProperties>
</file>