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92608"/>
            <a:ext cx="5532120" cy="5989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40000"/>
            <a:ext cx="2926080" cy="4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82F5D"/>
                </a:solidFill>
                <a:latin typeface="Aptos"/>
              </a:rPr>
              <a:t>FinCoreBank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0000"/>
            <a:ext cx="3200000" cy="24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082F5D"/>
                </a:solidFill>
                <a:latin typeface="Aptos"/>
              </a:rPr>
              <a:t>Smart Banking for a Better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70000"/>
            <a:ext cx="4389120" cy="64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082F5D"/>
                </a:solidFill>
                <a:latin typeface="Aptos"/>
              </a:rPr>
              <a:t>Fin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00000"/>
            <a:ext cx="5150000" cy="95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39197"/>
                </a:solidFill>
                <a:latin typeface="Aptos"/>
              </a:rPr>
              <a:t>Secure Digital Banking Platform with
Transaction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0000"/>
            <a:ext cx="4700000" cy="7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Complete onboarding, transaction, and loan management for modern banking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4150000"/>
            <a:ext cx="4650000" cy="1060000"/>
          </a:xfrm>
          <a:prstGeom prst="roundRect">
            <a:avLst>
              <a:gd name="adj" fmla="val 7000"/>
            </a:avLst>
          </a:prstGeom>
          <a:solidFill>
            <a:srgbClr val="EAF2FB"/>
          </a:solidFill>
          <a:ln w="9525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4250000"/>
            <a:ext cx="2600000" cy="2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39197"/>
                </a:solidFill>
                <a:latin typeface="Aptos"/>
              </a:rPr>
              <a:t>UNDER THE GUIDANCE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4570000"/>
            <a:ext cx="4100000" cy="5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Surmaya Biswas</a:t>
            </a:r>
          </a:p>
          <a:p>
            <a:pPr algn="l"/>
            <a:r>
              <a:rPr sz="1200" b="0">
                <a:solidFill>
                  <a:srgbClr val="082F5D"/>
                </a:solidFill>
                <a:latin typeface="Aptos"/>
              </a:rPr>
              <a:t>Project Mentor, Infosys Springboard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50000"/>
            <a:ext cx="4600000" cy="33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82F5D"/>
                </a:solidFill>
                <a:latin typeface="Aptos"/>
              </a:rPr>
              <a:t>JAVA     •     SPRING     •     REACT     •     MYSQL</a:t>
            </a:r>
          </a:p>
        </p:txBody>
      </p:sp>
      <p:sp>
        <p:nvSpPr>
          <p:cNvPr id="30" name="Rounded Rectangle Team"/>
          <p:cNvSpPr/>
          <p:nvPr/>
        </p:nvSpPr>
        <p:spPr>
          <a:xfrm>
            <a:off x="6500000" y="2050000"/>
            <a:ext cx="50000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3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Team Header"/>
          <p:cNvSpPr txBox="1"/>
          <p:nvPr/>
        </p:nvSpPr>
        <p:spPr>
          <a:xfrm>
            <a:off x="6740000" y="2230000"/>
            <a:ext cx="4560000" cy="34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TEAM MEMBERS</a:t>
            </a:r>
          </a:p>
        </p:txBody>
      </p:sp>
      <p:sp>
        <p:nvSpPr>
          <p:cNvPr id="33" name="TextBox Team Names"/>
          <p:cNvSpPr txBox="1"/>
          <p:nvPr/>
        </p:nvSpPr>
        <p:spPr>
          <a:xfrm>
            <a:off x="6740000" y="2680000"/>
            <a:ext cx="4560000" cy="225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NagarJuna Magam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Arfa Saniya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Balkishan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C2B39"/>
                </a:solidFill>
                <a:latin typeface="Aptos"/>
              </a:rPr>
              <a:t>Jayanth</a:t>
            </a:r>
          </a:p>
          <a:p>
            <a:pPr algn="l"/>
            <a:r>
              <a:rPr sz="1600" b="1">
                <a:solidFill>
                  <a:srgbClr val="1C2B39"/>
                </a:solidFill>
                <a:latin typeface="Aptos"/>
              </a:rPr>
              <a:t>Sulthana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Presentation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444752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96512" y="1499616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96512" y="1563624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536192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Problem &amp; Proposed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066544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96512" y="2121408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2185416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57984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Core Modules &amp; User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688336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96512" y="2743200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2807208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779776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Customer and Transaction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310128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96512" y="3364992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3429000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4015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Loan Management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931920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96512" y="3986784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4050792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23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Technology Stack &amp; System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553712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96512" y="4608576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6512" y="4672584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645152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Implementation Highlights &amp; Validations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5175504"/>
            <a:ext cx="548640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96512" y="5230368"/>
            <a:ext cx="347472" cy="347472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6512" y="5294376"/>
            <a:ext cx="3474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5266944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82F5D"/>
                </a:solidFill>
                <a:latin typeface="Aptos"/>
              </a:rPr>
              <a:t>Roadmap, Lessons Learned &amp; 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PROBLEM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The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7276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569B4"/>
                </a:solidFill>
                <a:latin typeface="Aptos"/>
              </a:rPr>
              <a:t>Manual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Traditional onboarding can involve paperwork and repeated manual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77632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677632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87360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489757"/>
                </a:solidFill>
                <a:latin typeface="Aptos"/>
              </a:rPr>
              <a:t>Balance &amp; Transaction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07984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Customers need clear validation and immediate balance updates during transactions.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92224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892224"/>
            <a:ext cx="64008" cy="105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01952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E88B19"/>
                </a:solidFill>
                <a:latin typeface="Aptos"/>
              </a:rPr>
              <a:t>Loan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422576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Loan requests require a clear application, approval/rejection and repayment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106816"/>
            <a:ext cx="56235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106816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216544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584896"/>
                </a:solidFill>
                <a:latin typeface="Aptos"/>
              </a:rPr>
              <a:t>Role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637168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B39"/>
                </a:solidFill>
                <a:latin typeface="Aptos"/>
              </a:rPr>
              <a:t>Admin and Customer actions must remain separated through authentication and authorization.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WHAT FIN CORE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00000"/>
            <a:ext cx="55778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Fin Core replaces manual banking processes with a secure,
role-based digital workflow for onboarding, transactions, and loans.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2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20000"/>
            <a:ext cx="64008" cy="98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569B4"/>
                </a:solidFill>
                <a:latin typeface="Aptos"/>
              </a:rPr>
              <a:t>Customer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5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Customer submits a request; admin reviews and approves before account access is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1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10000"/>
            <a:ext cx="64008" cy="98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21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89757"/>
                </a:solidFill>
                <a:latin typeface="Aptos"/>
              </a:rPr>
              <a:t>Transaction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4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Deposit, withdrawal and transfer operations with balance and transaction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00000"/>
            <a:ext cx="64008" cy="98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0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8B19"/>
                </a:solidFill>
                <a:latin typeface="Aptos"/>
              </a:rPr>
              <a:t>Loan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3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Customer applies for a loan; admin verifies and approves/rejects; repayment is tracked.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90000"/>
            <a:ext cx="5623560" cy="9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90000"/>
            <a:ext cx="64008" cy="98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5399728"/>
            <a:ext cx="53309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84896"/>
                </a:solidFill>
                <a:latin typeface="Aptos"/>
              </a:rPr>
              <a:t>Secure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820352"/>
            <a:ext cx="5330952" cy="46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Spring Security controls authentication and role-based access for Admin and Customer.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MAJOR FUNCTIONAL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Core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55778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Fin Core is organized into four functional areas that together cover the full banking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4008" cy="140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569B4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Registration, login, account access, transactions and loan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214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59" y="2148840"/>
            <a:ext cx="64008" cy="140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25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39197"/>
                </a:solidFill>
                <a:latin typeface="Aptos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7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Review requests, approve/reject customers, manage account information and loan processing.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6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68840"/>
            <a:ext cx="64008" cy="140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89757"/>
                </a:solidFill>
                <a:latin typeface="Aptos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9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Deposit, withdrawal, transfer, balance checks and transaction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59" y="3868840"/>
            <a:ext cx="3703320" cy="14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59" y="3868840"/>
            <a:ext cx="64008" cy="140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978568"/>
            <a:ext cx="34107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88B19"/>
                </a:solidFill>
                <a:latin typeface="Aptos"/>
              </a:rPr>
              <a:t>Loan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99192"/>
            <a:ext cx="3410712" cy="70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>
                <a:solidFill>
                  <a:srgbClr val="1C2B39"/>
                </a:solidFill>
                <a:latin typeface="Aptos"/>
              </a:rPr>
              <a:t>Loan application, approval/rejection, loan account/disbursement and repayment.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82F5D"/>
                </a:solidFill>
                <a:latin typeface="Aptos"/>
              </a:rPr>
              <a:t>HOW A CUSTOMER USES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Customer &amp; Transaction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691640"/>
            <a:ext cx="420624" cy="420624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Customer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Logs in after successful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2" y="1691640"/>
            <a:ext cx="420624" cy="420624"/>
          </a:xfrm>
          <a:prstGeom prst="ellipse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Raise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Submits a request for banking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48656" y="1691640"/>
            <a:ext cx="420624" cy="420624"/>
          </a:xfrm>
          <a:prstGeom prst="ellipse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Admin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Admin approves or rejects the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19" y="1691640"/>
            <a:ext cx="420624" cy="420624"/>
          </a:xfrm>
          <a:prstGeom prst="ellipse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Account Activated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Approval enables banking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0656" y="1600200"/>
            <a:ext cx="2084831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30384" y="1691640"/>
            <a:ext cx="420624" cy="420624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175564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2448" y="1709928"/>
            <a:ext cx="1353311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2F5D"/>
                </a:solidFill>
                <a:latin typeface="Aptos"/>
              </a:rPr>
              <a:t>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240280"/>
            <a:ext cx="1792223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Deposit, withdrawal &amp; transfer, fully validated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590288"/>
            <a:ext cx="1024128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754880"/>
            <a:ext cx="9784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082F5D"/>
                </a:solidFill>
                <a:latin typeface="Aptos"/>
              </a:rPr>
              <a:t>Every transaction — deposit, withdrawal or transfer — passes account, balance and business-rule validation before it is processed.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_slide7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82F5D"/>
                </a:solidFill>
                <a:latin typeface="Aptos"/>
              </a:rPr>
              <a:t>END-TO-END LOAN BUSINESS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Loan Management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6656" y="1645920"/>
            <a:ext cx="420624" cy="420624"/>
          </a:xfrm>
          <a:prstGeom prst="ellipse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0992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64207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Login &amp; Browse Schemes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View available schemes &amp; interest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54480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71416" y="1645920"/>
            <a:ext cx="420624" cy="420624"/>
          </a:xfrm>
          <a:prstGeom prst="ellipse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0992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664207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Apply for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94560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Select scheme &amp; submit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554480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5" y="1645920"/>
            <a:ext cx="420624" cy="420624"/>
          </a:xfrm>
          <a:prstGeom prst="ellipse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709928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64207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Admin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94560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Eligibility &amp; document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127248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" y="3218688"/>
            <a:ext cx="420624" cy="420624"/>
          </a:xfrm>
          <a:prstGeom prst="ellipse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282696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36976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Approve / 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767328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Decision with reason if rejected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127248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71416" y="3218688"/>
            <a:ext cx="420624" cy="420624"/>
          </a:xfrm>
          <a:prstGeom prst="ellipse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282696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236976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Disbursement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3767328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Loan account created &amp; funds released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3127248"/>
            <a:ext cx="3429000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66175" y="3218688"/>
            <a:ext cx="420624" cy="420624"/>
          </a:xfrm>
          <a:prstGeom prst="ellipse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3282696"/>
            <a:ext cx="42062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236976"/>
            <a:ext cx="2697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82F5D"/>
                </a:solidFill>
                <a:latin typeface="Aptos"/>
              </a:rPr>
              <a:t>Repayment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767328"/>
            <a:ext cx="3136392" cy="5669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Tracked automatically until fully paid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800600"/>
            <a:ext cx="102870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4965192"/>
            <a:ext cx="9829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082F5D"/>
                </a:solidFill>
                <a:latin typeface="Aptos"/>
              </a:rPr>
              <a:t>Every loan moves through verification and approval before disbursement, with repayment tracked automatically until fully paid.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User Roles &amp;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257800" cy="39776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64008" cy="3977639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49651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569B4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0000"/>
            <a:ext cx="4965192" cy="33558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• Manages the platform
• Reviews and approves/rejects customer requests
• Manages customer/account information
• Processes loan applications
• Monitors transaction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63040"/>
            <a:ext cx="5257800" cy="39776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63040"/>
            <a:ext cx="64008" cy="3977639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72768"/>
            <a:ext cx="49651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39197"/>
                </a:solidFill>
                <a:latin typeface="Aptos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50000"/>
            <a:ext cx="4965192" cy="33558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• Registers and logs in
• Accesses approved account
• Performs transactions
• Applies for loans
• Views loan and transaction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HOW THE PLATFORM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082F5D"/>
                </a:solidFill>
                <a:latin typeface="Aptos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520440" cy="37490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64008" cy="3749039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322783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569B4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3227832" cy="3127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React.js
Axios
React Router
Bootstrap /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37490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64008" cy="3749039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18488"/>
            <a:ext cx="322783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39197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39112"/>
            <a:ext cx="3227832" cy="3127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Java
Spring Boot
Spring MVC
Spring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520440" cy="37490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64008" cy="3749039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618488"/>
            <a:ext cx="322783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489757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039112"/>
            <a:ext cx="3227832" cy="3127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C2B39"/>
                </a:solidFill>
                <a:latin typeface="Aptos"/>
              </a:rPr>
              <a:t>MySQL
Spring Data JPA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669280"/>
            <a:ext cx="6126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82F5D"/>
                </a:solidFill>
                <a:latin typeface="Aptos"/>
              </a:rPr>
              <a:t>Secure  •  Scalable  •  Reliable  •  Role-Based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High Level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246120" cy="22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64008" cy="2286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29535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569B4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953512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React.js SPA
What customers and admins see and click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246120" cy="22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64008" cy="2286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72768"/>
            <a:ext cx="29535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9197"/>
                </a:solidFill>
                <a:latin typeface="Aptos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953512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Spring Boot REST API + Spring Security
Auth &amp;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63040"/>
            <a:ext cx="3246120" cy="2286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1463040"/>
            <a:ext cx="64008" cy="2286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572768"/>
            <a:ext cx="295351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89757"/>
                </a:solidFill>
                <a:latin typeface="Aptos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993392"/>
            <a:ext cx="2953512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MySQL + Spring Data JPA
Accounts, loans and transactions</a:t>
            </a:r>
          </a:p>
        </p:txBody>
      </p:sp>
      <p:sp>
        <p:nvSpPr>
          <p:cNvPr id="21" name="Rounded Rectangle Backdrop"/>
          <p:cNvSpPr/>
          <p:nvPr/>
        </p:nvSpPr>
        <p:spPr>
          <a:xfrm>
            <a:off x="2600000" y="4010000"/>
            <a:ext cx="6980000" cy="48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265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82F5D"/>
                </a:solidFill>
                <a:latin typeface="Aptos"/>
              </a:rPr>
              <a:t>CLIENT  →  API  →  SECURITY / BUSINESS LOGIC  →  DATABASE  → 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617720"/>
            <a:ext cx="64008" cy="96012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569B4"/>
                </a:solidFill>
                <a:latin typeface="Aptos"/>
              </a:rPr>
              <a:t>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Authorization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4617720"/>
            <a:ext cx="64008" cy="96012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39197"/>
                </a:solidFill>
                <a:latin typeface="Aptos"/>
              </a:rPr>
              <a:t>Role-Based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Access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4617720"/>
            <a:ext cx="64008" cy="96012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89757"/>
                </a:solidFill>
                <a:latin typeface="Aptos"/>
              </a:rPr>
              <a:t>Business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&amp; Validations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4617720"/>
            <a:ext cx="25146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4617720"/>
            <a:ext cx="64008" cy="96012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59" y="4727448"/>
            <a:ext cx="22219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584896"/>
                </a:solidFill>
                <a:latin typeface="Aptos"/>
              </a:rPr>
              <a:t>Data 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59" y="5148072"/>
            <a:ext cx="2221992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C2B39"/>
                </a:solidFill>
                <a:latin typeface="Aptos"/>
              </a:rPr>
              <a:t>&amp;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Key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64008" cy="90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63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569B4"/>
                </a:solidFill>
                <a:latin typeface="Aptos"/>
              </a:rPr>
              <a:t>Role-Based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83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Spring Security separates Admin &amp; Customer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68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68312"/>
            <a:ext cx="64008" cy="90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478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39197"/>
                </a:solidFill>
                <a:latin typeface="Aptos"/>
              </a:rPr>
              <a:t>Customer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98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Request, approval &amp; account access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83312"/>
            <a:ext cx="64008" cy="90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493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489757"/>
                </a:solidFill>
                <a:latin typeface="Aptos"/>
              </a:rPr>
              <a:t>Transaction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913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Deposit, withdrawal, transfer &amp; history with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98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98312"/>
            <a:ext cx="64008" cy="900000"/>
          </a:xfrm>
          <a:prstGeom prst="rect">
            <a:avLst/>
          </a:prstGeom>
          <a:solidFill>
            <a:srgbClr val="E8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508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88B19"/>
                </a:solidFill>
                <a:latin typeface="Aptos"/>
              </a:rPr>
              <a:t>Loan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928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Application, admin approval/rejection &amp; repayment.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13312"/>
            <a:ext cx="5806440" cy="9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413312"/>
            <a:ext cx="64008" cy="90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523040"/>
            <a:ext cx="5513831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584896"/>
                </a:solidFill>
                <a:latin typeface="Aptos"/>
              </a:rPr>
              <a:t>Validation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943664"/>
            <a:ext cx="5513831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C2B39"/>
                </a:solidFill>
                <a:latin typeface="Aptos"/>
              </a:rPr>
              <a:t>Account, balance &amp; business rules checked before processing.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VALIDATIONS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Ensuring Data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417320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2704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569B4"/>
                </a:solidFill>
                <a:latin typeface="Aptos"/>
              </a:rPr>
              <a:t>Form Validations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Input validations on all forms to prevent invalid or incomplete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0001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00010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0973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489757"/>
                </a:solidFill>
                <a:latin typeface="Aptos"/>
              </a:rPr>
              <a:t>Business Rule Validations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3036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Account, balance, loan eligibility and transaction rules enforced.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98270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982700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9242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584896"/>
                </a:solidFill>
                <a:latin typeface="Aptos"/>
              </a:rPr>
              <a:t>Secure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1305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Spring Security ensures only authorized users can access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265390"/>
            <a:ext cx="571500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5265390"/>
            <a:ext cx="64008" cy="105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375118"/>
            <a:ext cx="542239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39197"/>
                </a:solidFill>
                <a:latin typeface="Aptos"/>
              </a:rPr>
              <a:t>Data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795742"/>
            <a:ext cx="542239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Data consistency maintained across all operations.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64008" cy="1050000"/>
          </a:xfrm>
          <a:prstGeom prst="rect">
            <a:avLst/>
          </a:prstGeom>
          <a:solidFill>
            <a:srgbClr val="15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9616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569B4"/>
                </a:solidFill>
                <a:latin typeface="Aptos"/>
              </a:rPr>
              <a:t>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Native mobile app for Android and 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81723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681723"/>
            <a:ext cx="64008" cy="1050000"/>
          </a:xfrm>
          <a:prstGeom prst="rect">
            <a:avLst/>
          </a:prstGeom>
          <a:solidFill>
            <a:srgbClr val="13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91451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39197"/>
                </a:solidFill>
                <a:latin typeface="Aptos"/>
              </a:rPr>
              <a:t>UPI &amp; Payment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12075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Integrate UPI and payment gateway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73558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973558"/>
            <a:ext cx="64008" cy="1050000"/>
          </a:xfrm>
          <a:prstGeom prst="rect">
            <a:avLst/>
          </a:prstGeom>
          <a:solidFill>
            <a:srgbClr val="48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83286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489757"/>
                </a:solidFill>
                <a:latin typeface="Aptos"/>
              </a:rPr>
              <a:t>Advanced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503910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Reports and dashboards for better insights.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65393"/>
            <a:ext cx="5852160" cy="105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65393"/>
            <a:ext cx="64008" cy="1050000"/>
          </a:xfrm>
          <a:prstGeom prst="rect">
            <a:avLst/>
          </a:prstGeom>
          <a:solidFill>
            <a:srgbClr val="58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375121"/>
            <a:ext cx="5559552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50" b="1">
                <a:solidFill>
                  <a:srgbClr val="584896"/>
                </a:solidFill>
                <a:latin typeface="Aptos"/>
              </a:rPr>
              <a:t>AI/ML Based Risk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795745"/>
            <a:ext cx="5559552" cy="380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C2B39"/>
                </a:solidFill>
                <a:latin typeface="Aptos"/>
              </a:rPr>
              <a:t>Intelligent loan approval and fraud detection.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_slide15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7472" y="228600"/>
            <a:ext cx="685800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640080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82F5D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6217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82F5D"/>
                </a:solidFill>
                <a:latin typeface="Aptos"/>
              </a:rPr>
              <a:t>Building the Future of Banking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5715000" cy="330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19072"/>
            <a:ext cx="525780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B39"/>
                </a:solidFill>
                <a:latin typeface="Aptos"/>
              </a:rPr>
              <a:t>Fin Core demonstrates a complete digital banking solution that streamlines onboarding,
transactions and loan management with security, validation and role-based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5074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9197"/>
                </a:solidFill>
                <a:latin typeface="Aptos"/>
              </a:rPr>
              <a:t>Smart Banking for a Better Tomorrow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03320"/>
            <a:ext cx="5074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82F5D"/>
                </a:solidFill>
                <a:latin typeface="Aptos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315968"/>
            <a:ext cx="50749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569B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565392"/>
            <a:ext cx="3840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1">
                <a:solidFill>
                  <a:srgbClr val="082F5D"/>
                </a:solidFill>
                <a:latin typeface="Aptos"/>
              </a:rPr>
              <a:t>FIN CORE  •  DIGITAL BANKING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47104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1">
                <a:solidFill>
                  <a:srgbClr val="082F5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